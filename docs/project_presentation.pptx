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4213D"/>
                </a:solidFill>
              </a:defRPr>
            </a:pPr>
            <a:r>
              <a:t>动物图像识别系统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6699"/>
                </a:solidFill>
              </a:defRPr>
            </a:pPr>
            <a:r>
              <a:t>Mask-First 定位 · 多骨干融合 · 不确定性决策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88291"/>
                </a:solidFill>
              </a:defRPr>
            </a:pPr>
            <a:r>
              <a:t>Computer Vision Project · Animal-90 / Multi-Animal Localization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</a:defRPr>
            </a:pPr>
            <a:r>
              <a:t>01  研究动机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88291"/>
                </a:solidFill>
              </a:defRPr>
            </a:pPr>
            <a:r>
              <a:t>Why mask-first instead of whole-image classification?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97280" cy="2743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515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b="1" sz="1600">
                <a:solidFill>
                  <a:srgbClr val="2D3748"/>
                </a:solidFill>
              </a:defRPr>
            </a:pPr>
            <a:r>
              <a:t>问题</a:t>
            </a:r>
          </a:p>
          <a:p>
            <a:pPr lvl="1">
              <a:spcAft>
                <a:spcPts val="1000"/>
              </a:spcAft>
              <a:defRPr sz="1500">
                <a:solidFill>
                  <a:srgbClr val="788291"/>
                </a:solidFill>
              </a:defRPr>
            </a:pPr>
            <a:r>
              <a:t>全图分类在复杂背景、多动物同框时，背景像素会干扰特征提取，导致泛化差。</a:t>
            </a:r>
          </a:p>
          <a:p>
            <a:pPr>
              <a:spcAft>
                <a:spcPts val="200"/>
              </a:spcAft>
              <a:defRPr b="1" sz="1600">
                <a:solidFill>
                  <a:srgbClr val="2D3748"/>
                </a:solidFill>
              </a:defRPr>
            </a:pPr>
            <a:r>
              <a:t>Animal-90 局限</a:t>
            </a:r>
          </a:p>
          <a:p>
            <a:pPr lvl="1">
              <a:spcAft>
                <a:spcPts val="1000"/>
              </a:spcAft>
              <a:defRPr sz="1500">
                <a:solidFill>
                  <a:srgbClr val="788291"/>
                </a:solidFill>
              </a:defRPr>
            </a:pPr>
            <a:r>
              <a:t>每图仅 1 个动物，定位 IoU 虚高（≈99%），无法检验真实定位能力。</a:t>
            </a:r>
          </a:p>
          <a:p>
            <a:pPr>
              <a:spcAft>
                <a:spcPts val="200"/>
              </a:spcAft>
              <a:defRPr b="1" sz="1600">
                <a:solidFill>
                  <a:srgbClr val="2D3748"/>
                </a:solidFill>
              </a:defRPr>
            </a:pPr>
            <a:r>
              <a:t>目标</a:t>
            </a:r>
          </a:p>
          <a:p>
            <a:pPr lvl="1">
              <a:spcAft>
                <a:spcPts val="1000"/>
              </a:spcAft>
              <a:defRPr sz="1500">
                <a:solidFill>
                  <a:srgbClr val="788291"/>
                </a:solidFill>
              </a:defRPr>
            </a:pPr>
            <a:r>
              <a:t>构建「先定位 → 再抑制背景 → 再分类」的两阶段流水线，并在多动物真实/合成数据上训练定位器。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• 核心思路：将识别问题分解为 Localization + Classification 两个可独立优化子任务。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</a:defRPr>
            </a:pPr>
            <a:r>
              <a:t>02  整体流程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88291"/>
                </a:solidFill>
              </a:defRPr>
            </a:pPr>
            <a:r>
              <a:t>End-to-end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97280" cy="2743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515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• 输入图像 → 【定位 Localizer】→ 输出 xywh 边界框（归一化坐标）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• → 【Mask】按 bbox 抑制背景 → 【三骨干分类器】→ 【不确定性融合】→ 类别 + 置信度</a:t>
            </a:r>
          </a:p>
          <a:p>
            <a:pPr>
              <a:spcAft>
                <a:spcPts val="200"/>
              </a:spcAft>
              <a:defRPr b="1" sz="1600">
                <a:solidFill>
                  <a:srgbClr val="2D3748"/>
                </a:solidFill>
              </a:defRPr>
            </a:pPr>
            <a:r>
              <a:t>LocateAnything（可选）</a:t>
            </a:r>
          </a:p>
          <a:p>
            <a:pPr lvl="1">
              <a:spcAft>
                <a:spcPts val="1000"/>
              </a:spcAft>
              <a:defRPr sz="1500">
                <a:solidFill>
                  <a:srgbClr val="788291"/>
                </a:solidFill>
              </a:defRPr>
            </a:pPr>
            <a:r>
              <a:t>推理时优先使用 NVIDIA LocateAnything-3B 零样本定位；不可用时回退自训练 BboxLocalizer。</a:t>
            </a:r>
          </a:p>
          <a:p>
            <a:pPr>
              <a:spcAft>
                <a:spcPts val="200"/>
              </a:spcAft>
              <a:defRPr b="1" sz="1600">
                <a:solidFill>
                  <a:srgbClr val="2D3748"/>
                </a:solidFill>
              </a:defRPr>
            </a:pPr>
            <a:r>
              <a:t>两阶段独立训练</a:t>
            </a:r>
          </a:p>
          <a:p>
            <a:pPr lvl="1">
              <a:spcAft>
                <a:spcPts val="1000"/>
              </a:spcAft>
              <a:defRPr sz="1500">
                <a:solidFill>
                  <a:srgbClr val="788291"/>
                </a:solidFill>
              </a:defRPr>
            </a:pPr>
            <a:r>
              <a:t>定位与分类分开反向传播（Separate Backpropagation），各自保存最优 checkpoint，避免任务梯度互相干扰。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• 评测指标：Localization IoU · 单模型 val_acc · 融合 ensemble acc(masked/full)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</a:defRPr>
            </a:pPr>
            <a:r>
              <a:t>03  阶段一：动物定位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88291"/>
                </a:solidFill>
              </a:defRPr>
            </a:pPr>
            <a:r>
              <a:t>BboxLocalizer + Multi-animal training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97280" cy="2743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515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b="1" sz="1600">
                <a:solidFill>
                  <a:srgbClr val="2D3748"/>
                </a:solidFill>
              </a:defRPr>
            </a:pPr>
            <a:r>
              <a:t>BboxLocalizer</a:t>
            </a:r>
          </a:p>
          <a:p>
            <a:pPr lvl="1">
              <a:spcAft>
                <a:spcPts val="1000"/>
              </a:spcAft>
              <a:defRPr sz="1500">
                <a:solidFill>
                  <a:srgbClr val="788291"/>
                </a:solidFill>
              </a:defRPr>
            </a:pPr>
            <a:r>
              <a:t>ResNet18 骨干 + 全连接头，输出 sigmoid 归一化 xywh；损失 = Smooth L1 + GIoU（Generalized IoU，广义交并比）。</a:t>
            </a:r>
          </a:p>
          <a:p>
            <a:pPr>
              <a:spcAft>
                <a:spcPts val="200"/>
              </a:spcAft>
              <a:defRPr b="1" sz="1600">
                <a:solidFill>
                  <a:srgbClr val="2D3748"/>
                </a:solidFill>
              </a:defRPr>
            </a:pPr>
            <a:r>
              <a:t>多动物训练集</a:t>
            </a:r>
          </a:p>
          <a:p>
            <a:pPr lvl="1">
              <a:spcAft>
                <a:spcPts val="1000"/>
              </a:spcAft>
              <a:defRPr sz="1500">
                <a:solidFill>
                  <a:srgbClr val="788291"/>
                </a:solidFill>
              </a:defRPr>
            </a:pPr>
            <a:r>
              <a:t>animal-90-multianimal（合成多动物，2700 张）+ Snapshot Serengeti 子集（真实相机陷阱，≥2 动物/bbox 标注）。</a:t>
            </a:r>
          </a:p>
          <a:p>
            <a:pPr>
              <a:spcAft>
                <a:spcPts val="200"/>
              </a:spcAft>
              <a:defRPr b="1" sz="1600">
                <a:solidFill>
                  <a:srgbClr val="2D3748"/>
                </a:solidFill>
              </a:defRPr>
            </a:pPr>
            <a:r>
              <a:t>样本展开</a:t>
            </a:r>
          </a:p>
          <a:p>
            <a:pPr lvl="1">
              <a:spcAft>
                <a:spcPts val="1000"/>
              </a:spcAft>
              <a:defRPr sz="1500">
                <a:solidFill>
                  <a:srgbClr val="788291"/>
                </a:solidFill>
              </a:defRPr>
            </a:pPr>
            <a:r>
              <a:t>每张多动物图按 object 展开为 (image, bbox) 对，使定位器学习紧致框而非整图框。</a:t>
            </a:r>
          </a:p>
          <a:p>
            <a:pPr>
              <a:spcAft>
                <a:spcPts val="200"/>
              </a:spcAft>
              <a:defRPr b="1" sz="1600">
                <a:solidFill>
                  <a:srgbClr val="2D3748"/>
                </a:solidFill>
              </a:defRPr>
            </a:pPr>
            <a:r>
              <a:t>评测升级</a:t>
            </a:r>
          </a:p>
          <a:p>
            <a:pPr lvl="1">
              <a:spcAft>
                <a:spcPts val="1000"/>
              </a:spcAft>
              <a:defRPr sz="1500">
                <a:solidFill>
                  <a:srgbClr val="788291"/>
                </a:solidFill>
              </a:defRPr>
            </a:pPr>
            <a:r>
              <a:t>除单框 IoU 外，增加 best-of-GT IoU：预测框与任一 GT 框的最大 IoU，反映多动物场景真实表现。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</a:defRPr>
            </a:pPr>
            <a:r>
              <a:t>04  Mask-First 分类策略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88291"/>
                </a:solidFill>
              </a:defRPr>
            </a:pPr>
            <a:r>
              <a:t>Background suppression before classification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97280" cy="2743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515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b="1" sz="1600">
                <a:solidFill>
                  <a:srgbClr val="2D3748"/>
                </a:solidFill>
              </a:defRPr>
            </a:pPr>
            <a:r>
              <a:t>Mask 操作</a:t>
            </a:r>
          </a:p>
          <a:p>
            <a:pPr lvl="1">
              <a:spcAft>
                <a:spcPts val="1000"/>
              </a:spcAft>
              <a:defRPr sz="1500">
                <a:solidFill>
                  <a:srgbClr val="788291"/>
                </a:solidFill>
              </a:defRPr>
            </a:pPr>
            <a:r>
              <a:t>根据定位框生成软/硬矩形 mask，将 bbox 外像素置零：masked = image ⊙ mask。</a:t>
            </a:r>
          </a:p>
          <a:p>
            <a:pPr>
              <a:spcAft>
                <a:spcPts val="200"/>
              </a:spcAft>
              <a:defRPr b="1" sz="1600">
                <a:solidFill>
                  <a:srgbClr val="2D3748"/>
                </a:solidFill>
              </a:defRPr>
            </a:pPr>
            <a:r>
              <a:t>意义</a:t>
            </a:r>
          </a:p>
          <a:p>
            <a:pPr lvl="1">
              <a:spcAft>
                <a:spcPts val="1000"/>
              </a:spcAft>
              <a:defRPr sz="1500">
                <a:solidFill>
                  <a:srgbClr val="788291"/>
                </a:solidFill>
              </a:defRPr>
            </a:pPr>
            <a:r>
              <a:t>迫使分类器关注动物区域，减少草地、天空等背景纹理对决策的干扰（Background Suppression）。</a:t>
            </a:r>
          </a:p>
          <a:p>
            <a:pPr>
              <a:spcAft>
                <a:spcPts val="200"/>
              </a:spcAft>
              <a:defRPr b="1" sz="1600">
                <a:solidFill>
                  <a:srgbClr val="2D3748"/>
                </a:solidFill>
              </a:defRPr>
            </a:pPr>
            <a:r>
              <a:t>与全图分类对比</a:t>
            </a:r>
          </a:p>
          <a:p>
            <a:pPr lvl="1">
              <a:spcAft>
                <a:spcPts val="1000"/>
              </a:spcAft>
              <a:defRPr sz="1500">
                <a:solidFill>
                  <a:srgbClr val="788291"/>
                </a:solidFill>
              </a:defRPr>
            </a:pPr>
            <a:r>
              <a:t>eval 同时报告 acc(masked) 与 acc(full)，量化 mask 带来的增益。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• 分类输入为 224×224、ImageNet 归一化后的 masked crop。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</a:defRPr>
            </a:pPr>
            <a:r>
              <a:t>05  ResNet50 + CBAM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88291"/>
                </a:solidFill>
              </a:defRPr>
            </a:pPr>
            <a:r>
              <a:t>Convolutional Block Attention 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97280" cy="2743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515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b="1" sz="1600">
                <a:solidFill>
                  <a:srgbClr val="2D3748"/>
                </a:solidFill>
              </a:defRPr>
            </a:pPr>
            <a:r>
              <a:t>ResNet（残差网络）</a:t>
            </a:r>
          </a:p>
          <a:p>
            <a:pPr lvl="1">
              <a:spcAft>
                <a:spcPts val="1000"/>
              </a:spcAft>
              <a:defRPr sz="1500">
                <a:solidFill>
                  <a:srgbClr val="788291"/>
                </a:solidFill>
              </a:defRPr>
            </a:pPr>
            <a:r>
              <a:t>通过 Bottleneck 块与跳跃连接（Skip Connection）缓解深层网络梯度消失；本项目使用 ImageNet 预训练 ResNet50。</a:t>
            </a:r>
          </a:p>
          <a:p>
            <a:pPr>
              <a:spcAft>
                <a:spcPts val="200"/>
              </a:spcAft>
              <a:defRPr b="1" sz="1600">
                <a:solidFill>
                  <a:srgbClr val="2D3748"/>
                </a:solidFill>
              </a:defRPr>
            </a:pPr>
            <a:r>
              <a:t>CBAM 是什么？</a:t>
            </a:r>
          </a:p>
          <a:p>
            <a:pPr lvl="1">
              <a:spcAft>
                <a:spcPts val="1000"/>
              </a:spcAft>
              <a:defRPr sz="1500">
                <a:solidFill>
                  <a:srgbClr val="788291"/>
                </a:solidFill>
              </a:defRPr>
            </a:pPr>
            <a:r>
              <a:t>Convolutional Block Attention Module：在特征图上依次施加通道注意力 + 空间注意力，让网络学会「哪些通道重要、哪些位置重要」。</a:t>
            </a:r>
          </a:p>
          <a:p>
            <a:pPr>
              <a:spcAft>
                <a:spcPts val="200"/>
              </a:spcAft>
              <a:defRPr b="1" sz="1600">
                <a:solidFill>
                  <a:srgbClr val="2D3748"/>
                </a:solidFill>
              </a:defRPr>
            </a:pPr>
            <a:r>
              <a:t>Channel Attention（通道注意力）</a:t>
            </a:r>
          </a:p>
          <a:p>
            <a:pPr lvl="1">
              <a:spcAft>
                <a:spcPts val="1000"/>
              </a:spcAft>
              <a:defRPr sz="1500">
                <a:solidFill>
                  <a:srgbClr val="788291"/>
                </a:solidFill>
              </a:defRPr>
            </a:pPr>
            <a:r>
              <a:t>对全局平均池化与最大池化结果做 MLP，生成通道权重 — 回答「什么特征（纹理/形状）有用？」</a:t>
            </a:r>
          </a:p>
          <a:p>
            <a:pPr>
              <a:spcAft>
                <a:spcPts val="200"/>
              </a:spcAft>
              <a:defRPr b="1" sz="1600">
                <a:solidFill>
                  <a:srgbClr val="2D3748"/>
                </a:solidFill>
              </a:defRPr>
            </a:pPr>
            <a:r>
              <a:t>Spatial Attention（空间注意力）</a:t>
            </a:r>
          </a:p>
          <a:p>
            <a:pPr lvl="1">
              <a:spcAft>
                <a:spcPts val="1000"/>
              </a:spcAft>
              <a:defRPr sz="1500">
                <a:solidFill>
                  <a:srgbClr val="788291"/>
                </a:solidFill>
              </a:defRPr>
            </a:pPr>
            <a:r>
              <a:t>沿通道维做 avg/max，经 7×7 卷积生成空间权重 — 回答「图像哪个区域有用？」</a:t>
            </a:r>
          </a:p>
          <a:p>
            <a:pPr>
              <a:spcAft>
                <a:spcPts val="200"/>
              </a:spcAft>
              <a:defRPr b="1" sz="1600">
                <a:solidFill>
                  <a:srgbClr val="2D3748"/>
                </a:solidFill>
              </a:defRPr>
            </a:pPr>
            <a:r>
              <a:t>与标准 ResNet 的区别</a:t>
            </a:r>
          </a:p>
          <a:p>
            <a:pPr lvl="1">
              <a:spcAft>
                <a:spcPts val="1000"/>
              </a:spcAft>
              <a:defRPr sz="1500">
                <a:solidFill>
                  <a:srgbClr val="788291"/>
                </a:solidFill>
              </a:defRPr>
            </a:pPr>
            <a:r>
              <a:t>标准 ResNet 对所有通道/位置等权处理；ResNet+CBAM 在每个 Bottleneck 的 conv3 之后插入 CBAM，自适应重加权特征，更擅长抑制背景噪声。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</a:defRPr>
            </a:pPr>
            <a:r>
              <a:t>06  EfficientNet-B3 与 ConvNeXt-T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88291"/>
                </a:solidFill>
              </a:defRPr>
            </a:pPr>
            <a:r>
              <a:t>Two complementary backbones vs. ResNet50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97280" cy="2743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515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b="1" sz="1600">
                <a:solidFill>
                  <a:srgbClr val="2D3748"/>
                </a:solidFill>
              </a:defRPr>
            </a:pPr>
            <a:r>
              <a:t>EfficientNet-B3</a:t>
            </a:r>
          </a:p>
          <a:p>
            <a:pPr lvl="1">
              <a:spcAft>
                <a:spcPts val="1000"/>
              </a:spcAft>
              <a:defRPr sz="1500">
                <a:solidFill>
                  <a:srgbClr val="788291"/>
                </a:solidFill>
              </a:defRPr>
            </a:pPr>
            <a:r>
              <a:t>采用 Compound Scaling（复合缩放）：同时缩放网络深度、宽度、分辨率；使用 MBConv + SE 模块（Squeeze-and-Excitation，挤压激励通道注意力）。相比 ResNet：参数/计算更高效，偏「轻量高吞吐」，擅长细粒度纹理。</a:t>
            </a:r>
          </a:p>
          <a:p>
            <a:pPr>
              <a:spcAft>
                <a:spcPts val="200"/>
              </a:spcAft>
              <a:defRPr b="1" sz="1600">
                <a:solidFill>
                  <a:srgbClr val="2D3748"/>
                </a:solidFill>
              </a:defRPr>
            </a:pPr>
            <a:r>
              <a:t>ConvNeXt-T（ConvNeXt-Tiny）</a:t>
            </a:r>
          </a:p>
          <a:p>
            <a:pPr lvl="1">
              <a:spcAft>
                <a:spcPts val="1000"/>
              </a:spcAft>
              <a:defRPr sz="1500">
                <a:solidFill>
                  <a:srgbClr val="788291"/>
                </a:solidFill>
              </a:defRPr>
            </a:pPr>
            <a:r>
              <a:t>将 ResNet 式卷积块现代化：大 kernel depthwise conv、LayerNorm、GELU，结构更接近 Vision Transformer 但仍是纯卷积。相比 ResNet：归纳偏置更现代，全局/context 建模更强，对复杂姿态更鲁棒。</a:t>
            </a:r>
          </a:p>
          <a:p>
            <a:pPr>
              <a:spcAft>
                <a:spcPts val="200"/>
              </a:spcAft>
              <a:defRPr b="1" sz="1600">
                <a:solidFill>
                  <a:srgbClr val="2D3748"/>
                </a:solidFill>
              </a:defRPr>
            </a:pPr>
            <a:r>
              <a:t>为何三模型并行？</a:t>
            </a:r>
          </a:p>
          <a:p>
            <a:pPr lvl="1">
              <a:spcAft>
                <a:spcPts val="1000"/>
              </a:spcAft>
              <a:defRPr sz="1500">
                <a:solidFill>
                  <a:srgbClr val="788291"/>
                </a:solidFill>
              </a:defRPr>
            </a:pPr>
            <a:r>
              <a:t>ResNet+CBAM（注意力增强卷积）、EfficientNet（效率+SE）、ConvNeXt（现代卷积）特征空间互补，单模型误差模式不同，适合集成。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• 三者均在 ImageNet 预训练权重上微调，仅解冻分类头与末层特征。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</a:defRPr>
            </a:pPr>
            <a:r>
              <a:t>07  不确定性融合集成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88291"/>
                </a:solidFill>
              </a:defRPr>
            </a:pPr>
            <a:r>
              <a:t>Uncertainty-aware fusion (not simple averaging)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97280" cy="2743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515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b="1" sz="1600">
                <a:solidFill>
                  <a:srgbClr val="2D3748"/>
                </a:solidFill>
              </a:defRPr>
            </a:pPr>
            <a:r>
              <a:t>为何不用平均？</a:t>
            </a:r>
          </a:p>
          <a:p>
            <a:pPr lvl="1">
              <a:spcAft>
                <a:spcPts val="1000"/>
              </a:spcAft>
              <a:defRPr sz="1500">
                <a:solidFill>
                  <a:srgbClr val="788291"/>
                </a:solidFill>
              </a:defRPr>
            </a:pPr>
            <a:r>
              <a:t>简单 logits/probs 平均假设各模型同等可靠；实际中不同样本、不同模型置信度差异大。</a:t>
            </a:r>
          </a:p>
          <a:p>
            <a:pPr>
              <a:spcAft>
                <a:spcPts val="200"/>
              </a:spcAft>
              <a:defRPr b="1" sz="1600">
                <a:solidFill>
                  <a:srgbClr val="2D3748"/>
                </a:solidFill>
              </a:defRPr>
            </a:pPr>
            <a:r>
              <a:t>Softmax + 熵</a:t>
            </a:r>
          </a:p>
          <a:p>
            <a:pPr lvl="1">
              <a:spcAft>
                <a:spcPts val="1000"/>
              </a:spcAft>
              <a:defRPr sz="1500">
                <a:solidFill>
                  <a:srgbClr val="788291"/>
                </a:solidFill>
              </a:defRPr>
            </a:pPr>
            <a:r>
              <a:t>各模型输出经 temperature-scaled softmax 得概率 p_i；预测熵 H = −Σ p log p 衡量不确定性（entropy 越高越「犹豫」）。</a:t>
            </a:r>
          </a:p>
          <a:p>
            <a:pPr>
              <a:spcAft>
                <a:spcPts val="200"/>
              </a:spcAft>
              <a:defRPr b="1" sz="1600">
                <a:solidFill>
                  <a:srgbClr val="2D3748"/>
                </a:solidFill>
              </a:defRPr>
            </a:pPr>
            <a:r>
              <a:t>融合权重</a:t>
            </a:r>
          </a:p>
          <a:p>
            <a:pPr lvl="1">
              <a:spcAft>
                <a:spcPts val="1000"/>
              </a:spcAft>
              <a:defRPr sz="1500">
                <a:solidFill>
                  <a:srgbClr val="788291"/>
                </a:solidFill>
              </a:defRPr>
            </a:pPr>
            <a:r>
              <a:t>w_i ∝ exp(−H_i) × max(p_i)：低熵 + 高峰值概率 → 权重更大；再对概率加权求和得到 fused_probs。</a:t>
            </a:r>
          </a:p>
          <a:p>
            <a:pPr>
              <a:spcAft>
                <a:spcPts val="200"/>
              </a:spcAft>
              <a:defRPr b="1" sz="1600">
                <a:solidFill>
                  <a:srgbClr val="2D3748"/>
                </a:solidFill>
              </a:defRPr>
            </a:pPr>
            <a:r>
              <a:t>直觉</a:t>
            </a:r>
          </a:p>
          <a:p>
            <a:pPr lvl="1">
              <a:spcAft>
                <a:spcPts val="1000"/>
              </a:spcAft>
              <a:defRPr sz="1500">
                <a:solidFill>
                  <a:srgbClr val="788291"/>
                </a:solidFill>
              </a:defRPr>
            </a:pPr>
            <a:r>
              <a:t>每个样本动态选择「当前最自信」的模型主导决策，而非固定权重投票。</a:t>
            </a:r>
          </a:p>
          <a:p>
            <a:pPr>
              <a:spcAft>
                <a:spcPts val="800"/>
              </a:spcAft>
              <a:defRPr sz="1600">
                <a:solidFill>
                  <a:srgbClr val="2D3748"/>
                </a:solidFill>
              </a:defRPr>
            </a:pPr>
            <a:r>
              <a:t>• 推理 Pipeline 与 evaluate 脚本均使用 UncertaintyFusionEnsemble 输出最终类别。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</a:defRPr>
            </a:pPr>
            <a:r>
              <a:t>08  训练与评测策略创新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88291"/>
                </a:solidFill>
              </a:defRPr>
            </a:pPr>
            <a:r>
              <a:t>Generalization-oriented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97280" cy="2743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515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  <a:defRPr b="1" sz="1600">
                <a:solidFill>
                  <a:srgbClr val="2D3748"/>
                </a:solidFill>
              </a:defRPr>
            </a:pPr>
            <a:r>
              <a:t>随机分层划分</a:t>
            </a:r>
          </a:p>
          <a:p>
            <a:pPr lvl="1">
              <a:spcAft>
                <a:spcPts val="1000"/>
              </a:spcAft>
              <a:defRPr sz="1500">
                <a:solidFill>
                  <a:srgbClr val="788291"/>
                </a:solidFill>
              </a:defRPr>
            </a:pPr>
            <a:r>
              <a:t>每次训练用 random split seed 对 Animal-90 做 stratified train/val split；即使 --resume 也重新划分，降低对固定划分的过拟合。</a:t>
            </a:r>
          </a:p>
          <a:p>
            <a:pPr>
              <a:spcAft>
                <a:spcPts val="200"/>
              </a:spcAft>
              <a:defRPr b="1" sz="1600">
                <a:solidFill>
                  <a:srgbClr val="2D3748"/>
                </a:solidFill>
              </a:defRPr>
            </a:pPr>
            <a:r>
              <a:t>多数据源定位</a:t>
            </a:r>
          </a:p>
          <a:p>
            <a:pPr lvl="1">
              <a:spcAft>
                <a:spcPts val="1000"/>
              </a:spcAft>
              <a:defRPr sz="1500">
                <a:solidFill>
                  <a:srgbClr val="788291"/>
                </a:solidFill>
              </a:defRPr>
            </a:pPr>
            <a:r>
              <a:t>Localization 不依赖单动物 Animal-90，而合并 multianimal + Serengeti bbox 标注（COCO 格式 xywh）。</a:t>
            </a:r>
          </a:p>
          <a:p>
            <a:pPr>
              <a:spcAft>
                <a:spcPts val="200"/>
              </a:spcAft>
              <a:defRPr b="1" sz="1600">
                <a:solidFill>
                  <a:srgbClr val="2D3748"/>
                </a:solidFill>
              </a:defRPr>
            </a:pPr>
            <a:r>
              <a:t>分阶段 checkpoint</a:t>
            </a:r>
          </a:p>
          <a:p>
            <a:pPr lvl="1">
              <a:spcAft>
                <a:spcPts val="1000"/>
              </a:spcAft>
              <a:defRPr sz="1500">
                <a:solidFill>
                  <a:srgbClr val="788291"/>
                </a:solidFill>
              </a:defRPr>
            </a:pPr>
            <a:r>
              <a:t>localizer_best.pth + 三个 classifier_*_best.pth + class_names.json + train_state.json（记录 seed、backbone）。</a:t>
            </a:r>
          </a:p>
          <a:p>
            <a:pPr>
              <a:spcAft>
                <a:spcPts val="200"/>
              </a:spcAft>
              <a:defRPr b="1" sz="1600">
                <a:solidFill>
                  <a:srgbClr val="2D3748"/>
                </a:solidFill>
              </a:defRPr>
            </a:pPr>
            <a:r>
              <a:t>可复现实验</a:t>
            </a:r>
          </a:p>
          <a:p>
            <a:pPr lvl="1">
              <a:spcAft>
                <a:spcPts val="1000"/>
              </a:spcAft>
              <a:defRPr sz="1500">
                <a:solidFill>
                  <a:srgbClr val="788291"/>
                </a:solidFill>
              </a:defRPr>
            </a:pPr>
            <a:r>
              <a:t>日志目录记录 download / train / metrics_summary；分别报告单模型 acc 与 ensemble acc。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</a:defRPr>
            </a:pPr>
            <a:r>
              <a:t>09  参考文献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88291"/>
                </a:solidFill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97280" cy="2743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515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• [1] He K. et al. Deep Residual Learning for Image Recognition. CVPR 2016.</a:t>
            </a:r>
          </a:p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• [2] Woo S. et al. CBAM: Convolutional Block Attention Module. ECCV 2018.</a:t>
            </a:r>
          </a:p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• [3] Tan M., Le Q. EfficientNet: Rethinking Model Scaling for CNNs. ICML 2019.</a:t>
            </a:r>
          </a:p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• [4] Liu Z. et al. A ConvNet for the 2020s (ConvNeXt). CVPR 2022.</a:t>
            </a:r>
          </a:p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• [5] Hu J. et al. Squeeze-and-Excitation Networks. CVPR 2018.</a:t>
            </a:r>
          </a:p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• [6] Swanson A.B. et al. Snapshot Serengeti (camera trap dataset). Sci. Data 2015; Dryad doi:10.5061/dryad.5pt92</a:t>
            </a:r>
          </a:p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• [7] LILA BC — Snapshot Serengeti bounding boxes &amp; metadata. https://lila.science/datasets/snapshot-serengeti/</a:t>
            </a:r>
          </a:p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• [8] Banerjee S. Animal Image Dataset (90 classes). Kaggle / Hugging Face lucabaggi/animal-wildlife</a:t>
            </a:r>
          </a:p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• [9] Rezatofighi H. et al. Generalized Intersection over Union (GIoU). CVPR 2019.</a:t>
            </a:r>
          </a:p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• [10] NVIDIA LocateAnything-3B — zero-shot visual grounding (optional inference backend).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